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8" r:id="rId4"/>
    <p:sldId id="260" r:id="rId5"/>
    <p:sldId id="267" r:id="rId6"/>
    <p:sldId id="264" r:id="rId7"/>
    <p:sldId id="269" r:id="rId8"/>
    <p:sldId id="270" r:id="rId9"/>
  </p:sldIdLst>
  <p:sldSz cx="12192000" cy="6858000"/>
  <p:notesSz cx="6858000" cy="9144000"/>
  <p:embeddedFontLst>
    <p:embeddedFont>
      <p:font typeface="Gmarket Sans Light" panose="020B0600000101010101" charset="-127"/>
      <p:regular r:id="rId11"/>
    </p:embeddedFont>
    <p:embeddedFont>
      <p:font typeface="LG EI Text TTF Bold" panose="020B0800000101010101" pitchFamily="50" charset="-127"/>
      <p:bold r:id="rId12"/>
    </p:embeddedFont>
    <p:embeddedFont>
      <p:font typeface="LG EI Text TTF SemiBold" panose="020B0700000101010101" pitchFamily="50" charset="-127"/>
      <p:bold r:id="rId13"/>
    </p:embeddedFont>
    <p:embeddedFont>
      <p:font typeface="LG EI Headline TTF Bold" panose="020B0500000101010101" pitchFamily="34" charset="0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34"/>
    <a:srgbClr val="894452"/>
    <a:srgbClr val="A61B38"/>
    <a:srgbClr val="6B6B6B"/>
    <a:srgbClr val="BB0840"/>
    <a:srgbClr val="FFFFFF"/>
    <a:srgbClr val="777777"/>
    <a:srgbClr val="8D744B"/>
    <a:srgbClr val="AA1239"/>
    <a:srgbClr val="6C6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156" y="594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471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4B067-E745-4A1E-BCF4-AA0C95A06814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D25ED-5512-4A06-99C2-61F5E6297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23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050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250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90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88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4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27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743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09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69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07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12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D3127-FBD7-4C6E-8609-764274EACD2A}" type="datetimeFigureOut">
              <a:rPr lang="ko-KR" altLang="en-US" smtClean="0"/>
              <a:t>2024-12-28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C5FB3-567C-4B7A-B8B7-D491873C2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14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9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3387507"/>
            <a:ext cx="8668011" cy="82985"/>
          </a:xfrm>
          <a:prstGeom prst="rect">
            <a:avLst/>
          </a:prstGeom>
          <a:gradFill flip="none" rotWithShape="1">
            <a:gsLst>
              <a:gs pos="85000">
                <a:srgbClr val="7B585F"/>
              </a:gs>
              <a:gs pos="49000">
                <a:srgbClr val="894452"/>
              </a:gs>
              <a:gs pos="0">
                <a:srgbClr val="A61B38"/>
              </a:gs>
              <a:gs pos="100000">
                <a:srgbClr val="6C6C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44053" y="3706110"/>
            <a:ext cx="339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Team 3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프로젝트 수행 계획서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3E558517-290D-10D4-DD69-8F5191B6A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478" y="3220761"/>
            <a:ext cx="2795153" cy="416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953F0F-DB89-EF06-9F2C-87C0E5C087F8}"/>
              </a:ext>
            </a:extLst>
          </p:cNvPr>
          <p:cNvSpPr txBox="1"/>
          <p:nvPr/>
        </p:nvSpPr>
        <p:spPr>
          <a:xfrm>
            <a:off x="244053" y="2378442"/>
            <a:ext cx="5552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VOD </a:t>
            </a:r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추천 서비스 개발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D757D-75E9-8D2C-F086-FE17082747DC}"/>
              </a:ext>
            </a:extLst>
          </p:cNvPr>
          <p:cNvSpPr txBox="1"/>
          <p:nvPr/>
        </p:nvSpPr>
        <p:spPr>
          <a:xfrm>
            <a:off x="244053" y="4311060"/>
            <a:ext cx="175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2024.12.28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5816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B7C0D7-6DDA-0F59-831A-BE1D7ACE3252}"/>
              </a:ext>
            </a:extLst>
          </p:cNvPr>
          <p:cNvSpPr/>
          <p:nvPr/>
        </p:nvSpPr>
        <p:spPr>
          <a:xfrm>
            <a:off x="-36512" y="4128478"/>
            <a:ext cx="12192000" cy="133417"/>
          </a:xfrm>
          <a:prstGeom prst="rect">
            <a:avLst/>
          </a:prstGeom>
          <a:gradFill flip="none" rotWithShape="1">
            <a:gsLst>
              <a:gs pos="85000">
                <a:srgbClr val="7B585F"/>
              </a:gs>
              <a:gs pos="49000">
                <a:srgbClr val="894452"/>
              </a:gs>
              <a:gs pos="0">
                <a:srgbClr val="A61B38"/>
              </a:gs>
              <a:gs pos="100000">
                <a:srgbClr val="6C6C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381000" y="262467"/>
            <a:ext cx="11489267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8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Table</a:t>
            </a:r>
            <a:r>
              <a:rPr lang="ko-KR" altLang="en-US" sz="28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  <a:r>
              <a:rPr lang="en-US" altLang="ko-KR" sz="28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of</a:t>
            </a:r>
            <a:r>
              <a:rPr lang="ko-KR" altLang="en-US" sz="28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  <a:r>
              <a:rPr lang="en-US" altLang="ko-KR" sz="28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Content</a:t>
            </a:r>
            <a:endParaRPr lang="ko-KR" altLang="en-US" sz="2800" spc="-67" dirty="0">
              <a:solidFill>
                <a:schemeClr val="tx1">
                  <a:lumMod val="75000"/>
                  <a:lumOff val="25000"/>
                </a:schemeClr>
              </a:solidFill>
              <a:latin typeface="LG EI Text TTF Bold" panose="020B0800000101010101" pitchFamily="50" charset="-127"/>
              <a:ea typeface="LG EI Text TTF Bold" panose="020B0800000101010101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87400" y="1761067"/>
            <a:ext cx="939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Headline TTF Bold" panose="020B0500000101010101" pitchFamily="34" charset="0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24807" y="3234174"/>
            <a:ext cx="2971800" cy="7450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2.1 </a:t>
            </a: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개발</a:t>
            </a: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 </a:t>
            </a: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배경 및 목표</a:t>
            </a:r>
          </a:p>
          <a:p>
            <a:pPr lvl="0" algn="l">
              <a:lnSpc>
                <a:spcPct val="107899"/>
              </a:lnSpc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2.2 </a:t>
            </a: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지향점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4807" y="2695587"/>
            <a:ext cx="2980267" cy="296333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프로젝트</a:t>
            </a:r>
            <a:r>
              <a:rPr 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  <a:r>
              <a:rPr lang="ko-KR" alt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개요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66667" y="1761067"/>
            <a:ext cx="939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4000" spc="-67" dirty="0">
              <a:solidFill>
                <a:srgbClr val="000000"/>
              </a:solidFill>
              <a:latin typeface="Gmarket Sans Ligh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F92B56D-8C3B-F8B6-FF4A-FC4A67FF37AF}"/>
              </a:ext>
            </a:extLst>
          </p:cNvPr>
          <p:cNvSpPr/>
          <p:nvPr/>
        </p:nvSpPr>
        <p:spPr>
          <a:xfrm>
            <a:off x="0" y="1634067"/>
            <a:ext cx="12192000" cy="133417"/>
          </a:xfrm>
          <a:prstGeom prst="rect">
            <a:avLst/>
          </a:prstGeom>
          <a:gradFill flip="none" rotWithShape="1">
            <a:gsLst>
              <a:gs pos="85000">
                <a:srgbClr val="7B585F"/>
              </a:gs>
              <a:gs pos="49000">
                <a:srgbClr val="894452"/>
              </a:gs>
              <a:gs pos="0">
                <a:srgbClr val="A61B38"/>
              </a:gs>
              <a:gs pos="100000">
                <a:srgbClr val="6C6C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E3D21895-9DC3-7D67-730D-8F0692C5A097}"/>
              </a:ext>
            </a:extLst>
          </p:cNvPr>
          <p:cNvSpPr txBox="1"/>
          <p:nvPr/>
        </p:nvSpPr>
        <p:spPr>
          <a:xfrm>
            <a:off x="8475134" y="1765814"/>
            <a:ext cx="939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Headline TTF Bold" panose="020B0500000101010101" pitchFamily="34" charset="0"/>
              </a:rPr>
              <a:t>03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D958D12E-4C17-38F8-F3F1-7FE35F7E8B96}"/>
              </a:ext>
            </a:extLst>
          </p:cNvPr>
          <p:cNvSpPr txBox="1"/>
          <p:nvPr/>
        </p:nvSpPr>
        <p:spPr>
          <a:xfrm>
            <a:off x="4619776" y="1778328"/>
            <a:ext cx="939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Headline TTF Bold" panose="020B0500000101010101" pitchFamily="34" charset="0"/>
              </a:rPr>
              <a:t>02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F526D038-1D7E-94C0-A6AF-EF54DD6FDDFF}"/>
              </a:ext>
            </a:extLst>
          </p:cNvPr>
          <p:cNvSpPr txBox="1"/>
          <p:nvPr/>
        </p:nvSpPr>
        <p:spPr>
          <a:xfrm>
            <a:off x="4516340" y="3143459"/>
            <a:ext cx="2971800" cy="7450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07899"/>
              </a:lnSpc>
            </a:pPr>
            <a:endParaRPr lang="ko-KR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1ACE1CDE-059E-1A45-5502-2F119D7DD3AD}"/>
              </a:ext>
            </a:extLst>
          </p:cNvPr>
          <p:cNvSpPr txBox="1"/>
          <p:nvPr/>
        </p:nvSpPr>
        <p:spPr>
          <a:xfrm>
            <a:off x="700919" y="2690749"/>
            <a:ext cx="2980267" cy="296333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조원 소개 및 업무분담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B250F6D0-ADF3-AEE5-6FA7-33468C91A4FB}"/>
              </a:ext>
            </a:extLst>
          </p:cNvPr>
          <p:cNvSpPr txBox="1"/>
          <p:nvPr/>
        </p:nvSpPr>
        <p:spPr>
          <a:xfrm>
            <a:off x="8348695" y="2695586"/>
            <a:ext cx="2980267" cy="296333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제공할 서비스</a:t>
            </a: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314BF198-827D-ECC5-E242-A97BBC82FCC2}"/>
              </a:ext>
            </a:extLst>
          </p:cNvPr>
          <p:cNvSpPr txBox="1"/>
          <p:nvPr/>
        </p:nvSpPr>
        <p:spPr>
          <a:xfrm>
            <a:off x="787400" y="4295158"/>
            <a:ext cx="939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Headline TTF Bold" panose="020B0500000101010101" pitchFamily="34" charset="0"/>
              </a:rPr>
              <a:t>04</a:t>
            </a:r>
          </a:p>
        </p:txBody>
      </p:sp>
      <p:sp>
        <p:nvSpPr>
          <p:cNvPr id="45" name="TextBox 6">
            <a:extLst>
              <a:ext uri="{FF2B5EF4-FFF2-40B4-BE49-F238E27FC236}">
                <a16:creationId xmlns:a16="http://schemas.microsoft.com/office/drawing/2014/main" id="{B263635E-A073-8DA1-03DE-A0053DD4B433}"/>
              </a:ext>
            </a:extLst>
          </p:cNvPr>
          <p:cNvSpPr txBox="1"/>
          <p:nvPr/>
        </p:nvSpPr>
        <p:spPr>
          <a:xfrm>
            <a:off x="787400" y="5675224"/>
            <a:ext cx="2971800" cy="7450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07899"/>
              </a:lnSpc>
            </a:pPr>
            <a:endParaRPr lang="ko-KR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2FC25829-5D48-1ABF-C271-BC9F9EC06C5E}"/>
              </a:ext>
            </a:extLst>
          </p:cNvPr>
          <p:cNvSpPr txBox="1"/>
          <p:nvPr/>
        </p:nvSpPr>
        <p:spPr>
          <a:xfrm>
            <a:off x="787400" y="5243425"/>
            <a:ext cx="2980267" cy="296333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개발 일정</a:t>
            </a:r>
            <a:r>
              <a:rPr lang="en-US" altLang="ko-KR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(WBS)</a:t>
            </a:r>
            <a:r>
              <a:rPr lang="ko-KR" altLang="en-US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F3533C5D-A681-11AE-0F2A-7A821890B7FC}"/>
              </a:ext>
            </a:extLst>
          </p:cNvPr>
          <p:cNvSpPr txBox="1"/>
          <p:nvPr/>
        </p:nvSpPr>
        <p:spPr>
          <a:xfrm>
            <a:off x="8466667" y="4295158"/>
            <a:ext cx="939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4000" spc="-67" dirty="0">
              <a:solidFill>
                <a:srgbClr val="000000"/>
              </a:solidFill>
              <a:latin typeface="Gmarket Sans Light"/>
            </a:endParaRPr>
          </a:p>
        </p:txBody>
      </p:sp>
      <p:sp>
        <p:nvSpPr>
          <p:cNvPr id="52" name="TextBox 6">
            <a:extLst>
              <a:ext uri="{FF2B5EF4-FFF2-40B4-BE49-F238E27FC236}">
                <a16:creationId xmlns:a16="http://schemas.microsoft.com/office/drawing/2014/main" id="{279C4E00-4B7D-D50A-16FA-FF36A9F3B246}"/>
              </a:ext>
            </a:extLst>
          </p:cNvPr>
          <p:cNvSpPr txBox="1"/>
          <p:nvPr/>
        </p:nvSpPr>
        <p:spPr>
          <a:xfrm>
            <a:off x="8236813" y="5690295"/>
            <a:ext cx="2971800" cy="7450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07899"/>
              </a:lnSpc>
            </a:pPr>
            <a:endParaRPr lang="ko-KR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pic>
        <p:nvPicPr>
          <p:cNvPr id="54" name="그래픽 53">
            <a:extLst>
              <a:ext uri="{FF2B5EF4-FFF2-40B4-BE49-F238E27FC236}">
                <a16:creationId xmlns:a16="http://schemas.microsoft.com/office/drawing/2014/main" id="{7EE11A62-E01E-EBFC-FFC0-91E744999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2882" y="6512960"/>
            <a:ext cx="1604994" cy="239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268133"/>
            <a:ext cx="2523067" cy="3894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133" y="3268133"/>
            <a:ext cx="2523067" cy="389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267" y="3268133"/>
            <a:ext cx="2523067" cy="389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268133"/>
            <a:ext cx="2523067" cy="38946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3810000"/>
            <a:ext cx="2523067" cy="8467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63600" y="4013200"/>
            <a:ext cx="2556933" cy="1862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400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PM</a:t>
            </a:r>
            <a:endParaRPr lang="ko-KR" altLang="en-US" sz="1400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133" y="3810000"/>
            <a:ext cx="2523067" cy="8467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267" y="3810000"/>
            <a:ext cx="2523067" cy="8467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400" y="3810000"/>
            <a:ext cx="2523067" cy="84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1F2461B-FC94-67F8-29EF-4C9451DF1220}"/>
              </a:ext>
            </a:extLst>
          </p:cNvPr>
          <p:cNvSpPr txBox="1"/>
          <p:nvPr/>
        </p:nvSpPr>
        <p:spPr>
          <a:xfrm>
            <a:off x="0" y="0"/>
            <a:ext cx="942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A61B38"/>
                </a:solidFill>
                <a:latin typeface="LG EI Headline TTF Bold" panose="020B0500000101010101" pitchFamily="34" charset="0"/>
                <a:ea typeface="KoPub돋움체 Bold" panose="02020603020101020101" pitchFamily="18" charset="-127"/>
              </a:rPr>
              <a:t>01</a:t>
            </a:r>
            <a:endParaRPr lang="ko-KR" altLang="en-US" sz="2800" dirty="0">
              <a:solidFill>
                <a:srgbClr val="A61B38"/>
              </a:solidFill>
              <a:latin typeface="LG EI Headline TTF Bold" panose="020B0500000101010101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5947A7-00C5-6169-64B4-AA94B380DD7E}"/>
              </a:ext>
            </a:extLst>
          </p:cNvPr>
          <p:cNvSpPr txBox="1"/>
          <p:nvPr/>
        </p:nvSpPr>
        <p:spPr>
          <a:xfrm>
            <a:off x="734951" y="76944"/>
            <a:ext cx="4308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조원 소개 및 업무분담</a:t>
            </a:r>
          </a:p>
        </p:txBody>
      </p:sp>
      <p:pic>
        <p:nvPicPr>
          <p:cNvPr id="27" name="그래픽 26">
            <a:extLst>
              <a:ext uri="{FF2B5EF4-FFF2-40B4-BE49-F238E27FC236}">
                <a16:creationId xmlns:a16="http://schemas.microsoft.com/office/drawing/2014/main" id="{68BB202B-6A96-C777-7174-49C05EA9FB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2882" y="6512960"/>
            <a:ext cx="1604994" cy="23914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784AC32-D2D0-B533-9AA8-C5827C245564}"/>
              </a:ext>
            </a:extLst>
          </p:cNvPr>
          <p:cNvSpPr txBox="1"/>
          <p:nvPr/>
        </p:nvSpPr>
        <p:spPr>
          <a:xfrm>
            <a:off x="1758345" y="3281402"/>
            <a:ext cx="76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이동환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92DA45-AEB2-5D3F-2009-3EFA48EB91B1}"/>
              </a:ext>
            </a:extLst>
          </p:cNvPr>
          <p:cNvSpPr txBox="1"/>
          <p:nvPr/>
        </p:nvSpPr>
        <p:spPr>
          <a:xfrm>
            <a:off x="4391479" y="3281402"/>
            <a:ext cx="76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손수경</a:t>
            </a:r>
            <a:endParaRPr lang="ko-KR" altLang="en-US" dirty="0"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B361D2-E5C2-A15D-1D44-221326EA2BDA}"/>
              </a:ext>
            </a:extLst>
          </p:cNvPr>
          <p:cNvSpPr txBox="1"/>
          <p:nvPr/>
        </p:nvSpPr>
        <p:spPr>
          <a:xfrm>
            <a:off x="7033079" y="3274536"/>
            <a:ext cx="76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송형덕</a:t>
            </a:r>
            <a:endParaRPr lang="ko-KR" altLang="en-US" dirty="0"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D2E1B7-D936-28FE-ACD8-5542DB6CC987}"/>
              </a:ext>
            </a:extLst>
          </p:cNvPr>
          <p:cNvSpPr txBox="1"/>
          <p:nvPr/>
        </p:nvSpPr>
        <p:spPr>
          <a:xfrm>
            <a:off x="9655440" y="3281402"/>
            <a:ext cx="76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최재원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EAE48F20-5602-7778-D7F0-678288D8F06B}"/>
              </a:ext>
            </a:extLst>
          </p:cNvPr>
          <p:cNvSpPr txBox="1"/>
          <p:nvPr/>
        </p:nvSpPr>
        <p:spPr>
          <a:xfrm>
            <a:off x="3505201" y="4013200"/>
            <a:ext cx="2556933" cy="1862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400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Front-End</a:t>
            </a:r>
            <a:endParaRPr lang="ko-KR" altLang="en-US" sz="1400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C9571A82-1C9C-5360-3EF7-052D73562F25}"/>
              </a:ext>
            </a:extLst>
          </p:cNvPr>
          <p:cNvSpPr txBox="1"/>
          <p:nvPr/>
        </p:nvSpPr>
        <p:spPr>
          <a:xfrm>
            <a:off x="6138334" y="4028924"/>
            <a:ext cx="2556933" cy="1862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400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DB</a:t>
            </a:r>
            <a:endParaRPr lang="ko-KR" altLang="en-US" sz="1400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112B5326-5AAF-219A-C358-9804DE3E7E0D}"/>
              </a:ext>
            </a:extLst>
          </p:cNvPr>
          <p:cNvSpPr txBox="1"/>
          <p:nvPr/>
        </p:nvSpPr>
        <p:spPr>
          <a:xfrm>
            <a:off x="8788400" y="4013199"/>
            <a:ext cx="2556933" cy="1862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altLang="ko-KR" sz="1400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Server</a:t>
            </a:r>
            <a:endParaRPr lang="ko-KR" altLang="en-US" sz="1400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67" y="1142999"/>
            <a:ext cx="4986867" cy="438573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67" y="1143000"/>
            <a:ext cx="4986867" cy="711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467" y="1854200"/>
            <a:ext cx="1786467" cy="178646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TextBox 10"/>
          <p:cNvSpPr txBox="1"/>
          <p:nvPr/>
        </p:nvSpPr>
        <p:spPr>
          <a:xfrm>
            <a:off x="1380067" y="1329267"/>
            <a:ext cx="4377267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개발 배경 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133" y="1143000"/>
            <a:ext cx="4986867" cy="43857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133" y="1143000"/>
            <a:ext cx="4986867" cy="711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383867" y="3759200"/>
            <a:ext cx="4597400" cy="1227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lvl="0" indent="-285750">
              <a:lnSpc>
                <a:spcPct val="107899"/>
              </a:lnSpc>
              <a:buFontTx/>
              <a:buChar char="-"/>
            </a:pP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직관적인 </a:t>
            </a:r>
            <a:r>
              <a:rPr lang="en-US" altLang="ko-KR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UI/</a:t>
            </a:r>
            <a:r>
              <a:rPr lang="en-US" altLang="ko-KR" sz="14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UX</a:t>
            </a: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를 통해 고객의 </a:t>
            </a:r>
            <a:r>
              <a:rPr lang="ko-KR" altLang="en-US" sz="1467" dirty="0">
                <a:solidFill>
                  <a:srgbClr val="A50034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편의성 증대 </a:t>
            </a:r>
            <a:endParaRPr lang="en-US" altLang="ko-KR" sz="1467" dirty="0">
              <a:solidFill>
                <a:srgbClr val="A50034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marL="285750" lvl="0" indent="-285750">
              <a:lnSpc>
                <a:spcPct val="107899"/>
              </a:lnSpc>
              <a:buFontTx/>
              <a:buChar char="-"/>
            </a:pP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개인화된 맞춤</a:t>
            </a:r>
            <a:r>
              <a:rPr lang="en-US" altLang="ko-KR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 </a:t>
            </a: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추천을 통해 사용자의 </a:t>
            </a:r>
            <a:r>
              <a:rPr lang="ko-KR" altLang="en-US" sz="1467" dirty="0">
                <a:solidFill>
                  <a:srgbClr val="A50034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만족도 향상</a:t>
            </a:r>
            <a:endParaRPr lang="en-US" altLang="ko-KR" sz="1467" dirty="0">
              <a:solidFill>
                <a:srgbClr val="A50034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marL="285750" lvl="0" indent="-285750">
              <a:lnSpc>
                <a:spcPct val="107899"/>
              </a:lnSpc>
              <a:buFontTx/>
              <a:buChar char="-"/>
            </a:pPr>
            <a:r>
              <a:rPr lang="ko-KR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다양화 된 추천으로 </a:t>
            </a:r>
            <a:r>
              <a:rPr lang="ko-KR" altLang="en-US" sz="1467" dirty="0">
                <a:solidFill>
                  <a:srgbClr val="A50034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기존 고객 이탈 감소 및 신규고객 유입</a:t>
            </a:r>
            <a:endParaRPr lang="en-US" altLang="ko-KR" sz="1467" dirty="0">
              <a:solidFill>
                <a:srgbClr val="A50034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lvl="0">
              <a:lnSpc>
                <a:spcPct val="107899"/>
              </a:lnSpc>
            </a:pPr>
            <a:endParaRPr lang="en-US" altLang="ko-KR" sz="1467" dirty="0">
              <a:solidFill>
                <a:srgbClr val="A50034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lvl="0">
              <a:lnSpc>
                <a:spcPct val="107899"/>
              </a:lnSpc>
            </a:pPr>
            <a:endParaRPr lang="en-US" altLang="ko-KR" sz="1467" dirty="0">
              <a:solidFill>
                <a:srgbClr val="A50034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marL="285750" lvl="0" indent="-285750" algn="ctr">
              <a:lnSpc>
                <a:spcPct val="107899"/>
              </a:lnSpc>
              <a:buFontTx/>
              <a:buChar char="-"/>
            </a:pPr>
            <a:endParaRPr lang="ko-KR" altLang="en-US" sz="1467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734" y="1896534"/>
            <a:ext cx="1693333" cy="16933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F00D02-8579-EFED-DBF6-40E8D55D402B}"/>
              </a:ext>
            </a:extLst>
          </p:cNvPr>
          <p:cNvSpPr txBox="1"/>
          <p:nvPr/>
        </p:nvSpPr>
        <p:spPr>
          <a:xfrm>
            <a:off x="0" y="0"/>
            <a:ext cx="942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A61B38"/>
                </a:solidFill>
                <a:latin typeface="LG EI Headline TTF Bold" panose="020B0500000101010101" pitchFamily="34" charset="0"/>
                <a:ea typeface="KoPub돋움체 Bold" panose="02020603020101020101" pitchFamily="18" charset="-127"/>
              </a:rPr>
              <a:t>02</a:t>
            </a:r>
            <a:endParaRPr lang="ko-KR" altLang="en-US" sz="2800" dirty="0">
              <a:solidFill>
                <a:srgbClr val="A61B38"/>
              </a:solidFill>
              <a:latin typeface="LG EI Headline TTF Bold" panose="020B0500000101010101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3D2A76-6AAE-4BBE-96EE-932596C77643}"/>
              </a:ext>
            </a:extLst>
          </p:cNvPr>
          <p:cNvSpPr txBox="1"/>
          <p:nvPr/>
        </p:nvSpPr>
        <p:spPr>
          <a:xfrm>
            <a:off x="734951" y="76944"/>
            <a:ext cx="4308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프로젝트 개요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&gt; 2.1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개발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배경 및 목표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LG EI Text TTF Bold" panose="020B0800000101010101" pitchFamily="50" charset="-127"/>
              <a:ea typeface="LG EI Text TTF Bold" panose="020B0800000101010101" pitchFamily="50" charset="-127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35CE7D1D-9973-E526-D464-3CBAECC3B1A8}"/>
              </a:ext>
            </a:extLst>
          </p:cNvPr>
          <p:cNvSpPr txBox="1"/>
          <p:nvPr/>
        </p:nvSpPr>
        <p:spPr>
          <a:xfrm>
            <a:off x="6493932" y="1329267"/>
            <a:ext cx="4377267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목표</a:t>
            </a: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6A1091F3-D396-C90E-33C5-AD47202F9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2882" y="6512960"/>
            <a:ext cx="1604994" cy="23914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F6866E-27DF-DCE6-E9C1-3CA5AEE442AF}"/>
              </a:ext>
            </a:extLst>
          </p:cNvPr>
          <p:cNvSpPr/>
          <p:nvPr/>
        </p:nvSpPr>
        <p:spPr>
          <a:xfrm>
            <a:off x="6189132" y="1143975"/>
            <a:ext cx="4986867" cy="710224"/>
          </a:xfrm>
          <a:prstGeom prst="rect">
            <a:avLst/>
          </a:prstGeom>
          <a:gradFill flip="none" rotWithShape="1">
            <a:gsLst>
              <a:gs pos="85000">
                <a:srgbClr val="7B585F"/>
              </a:gs>
              <a:gs pos="49000">
                <a:srgbClr val="894452"/>
              </a:gs>
              <a:gs pos="0">
                <a:srgbClr val="A61B38"/>
              </a:gs>
              <a:gs pos="100000">
                <a:srgbClr val="6C6C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9BC4A5C6-C0AE-5C22-1F4F-21F3F171F70B}"/>
              </a:ext>
            </a:extLst>
          </p:cNvPr>
          <p:cNvSpPr txBox="1"/>
          <p:nvPr/>
        </p:nvSpPr>
        <p:spPr>
          <a:xfrm>
            <a:off x="6472766" y="1329266"/>
            <a:ext cx="4377267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dirty="0">
                <a:solidFill>
                  <a:schemeClr val="bg1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목표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B2CAD12C-94AE-C282-F74B-FDC66BA95D00}"/>
              </a:ext>
            </a:extLst>
          </p:cNvPr>
          <p:cNvSpPr txBox="1"/>
          <p:nvPr/>
        </p:nvSpPr>
        <p:spPr>
          <a:xfrm>
            <a:off x="1270000" y="3759199"/>
            <a:ext cx="4597400" cy="1227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lvl="0" indent="-285750">
              <a:lnSpc>
                <a:spcPct val="107899"/>
              </a:lnSpc>
              <a:buFontTx/>
              <a:buChar char="-"/>
            </a:pPr>
            <a:r>
              <a:rPr lang="en-US" altLang="ko-KR" sz="1467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OTT</a:t>
            </a:r>
            <a:r>
              <a:rPr lang="ko-KR" altLang="en-US" sz="1467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시장의 성장으로 인한 </a:t>
            </a:r>
            <a:r>
              <a:rPr lang="en-US" altLang="ko-KR" sz="1467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VOD </a:t>
            </a:r>
            <a:r>
              <a:rPr lang="ko-KR" altLang="en-US" sz="1467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매출감소</a:t>
            </a:r>
            <a:endParaRPr lang="en-US" altLang="ko-KR" sz="1467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marL="285750" lvl="0" indent="-285750">
              <a:lnSpc>
                <a:spcPct val="107899"/>
              </a:lnSpc>
              <a:buFontTx/>
              <a:buChar char="-"/>
            </a:pPr>
            <a:r>
              <a:rPr lang="ko-KR" altLang="en-US" sz="1467" dirty="0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기존 고객 이탈 및 신규고객 </a:t>
            </a:r>
            <a:r>
              <a:rPr lang="ko-KR" altLang="en-US" sz="1467" dirty="0" err="1">
                <a:solidFill>
                  <a:srgbClr val="000000"/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미유입</a:t>
            </a:r>
            <a:endParaRPr lang="en-US" altLang="ko-KR" sz="1467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marL="285750" lvl="0" indent="-285750" algn="ctr">
              <a:lnSpc>
                <a:spcPct val="107899"/>
              </a:lnSpc>
              <a:buFontTx/>
              <a:buChar char="-"/>
            </a:pPr>
            <a:endParaRPr lang="ko-KR" altLang="en-US" sz="1467" dirty="0">
              <a:solidFill>
                <a:srgbClr val="000000"/>
              </a:solidFill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295D-917C-7B6E-BBDD-B772FD80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F4F1E7-4C68-3B80-9B2D-09E477B7A656}"/>
              </a:ext>
            </a:extLst>
          </p:cNvPr>
          <p:cNvSpPr/>
          <p:nvPr/>
        </p:nvSpPr>
        <p:spPr>
          <a:xfrm>
            <a:off x="0" y="2710543"/>
            <a:ext cx="12192000" cy="1436914"/>
          </a:xfrm>
          <a:prstGeom prst="rect">
            <a:avLst/>
          </a:prstGeom>
          <a:gradFill flip="none" rotWithShape="1">
            <a:gsLst>
              <a:gs pos="85000">
                <a:srgbClr val="7B585F"/>
              </a:gs>
              <a:gs pos="49000">
                <a:srgbClr val="894452"/>
              </a:gs>
              <a:gs pos="0">
                <a:srgbClr val="A61B38"/>
              </a:gs>
              <a:gs pos="100000">
                <a:srgbClr val="6C6C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9A0E37-F1F0-B0A2-9EE1-488C65D7FA80}"/>
              </a:ext>
            </a:extLst>
          </p:cNvPr>
          <p:cNvSpPr txBox="1"/>
          <p:nvPr/>
        </p:nvSpPr>
        <p:spPr>
          <a:xfrm>
            <a:off x="5200725" y="3280833"/>
            <a:ext cx="1911275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07899"/>
              </a:lnSpc>
            </a:pPr>
            <a:r>
              <a:rPr lang="ko-KR" altLang="en-US" sz="4000" dirty="0">
                <a:solidFill>
                  <a:srgbClr val="FFFFFF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빠른 속도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B2F6D-9A98-2B88-3ACF-CDE749FD3B4A}"/>
              </a:ext>
            </a:extLst>
          </p:cNvPr>
          <p:cNvSpPr txBox="1"/>
          <p:nvPr/>
        </p:nvSpPr>
        <p:spPr>
          <a:xfrm>
            <a:off x="0" y="0"/>
            <a:ext cx="942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A61B38"/>
                </a:solidFill>
                <a:latin typeface="LG EI Headline TTF Bold" panose="020B0500000101010101" pitchFamily="34" charset="0"/>
                <a:ea typeface="KoPub돋움체 Bold" panose="02020603020101020101" pitchFamily="18" charset="-127"/>
              </a:rPr>
              <a:t>02</a:t>
            </a:r>
            <a:endParaRPr lang="ko-KR" altLang="en-US" sz="2800" dirty="0">
              <a:solidFill>
                <a:srgbClr val="A61B38"/>
              </a:solidFill>
              <a:latin typeface="LG EI Headline TTF Bold" panose="020B0500000101010101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96073-80EF-4400-C091-2E74F3C6706F}"/>
              </a:ext>
            </a:extLst>
          </p:cNvPr>
          <p:cNvSpPr txBox="1"/>
          <p:nvPr/>
        </p:nvSpPr>
        <p:spPr>
          <a:xfrm>
            <a:off x="734951" y="76944"/>
            <a:ext cx="4308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프로젝트 개요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&gt; 2.2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지향점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LG EI Text TTF Bold" panose="020B0800000101010101" pitchFamily="50" charset="-127"/>
              <a:ea typeface="LG EI Text TTF Bold" panose="020B0800000101010101" pitchFamily="50" charset="-127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59AE513E-DC54-D7BD-64F6-00ABD1AE28AB}"/>
              </a:ext>
            </a:extLst>
          </p:cNvPr>
          <p:cNvSpPr txBox="1"/>
          <p:nvPr/>
        </p:nvSpPr>
        <p:spPr>
          <a:xfrm>
            <a:off x="836932" y="3280832"/>
            <a:ext cx="1267695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07899"/>
              </a:lnSpc>
            </a:pPr>
            <a:r>
              <a:rPr lang="ko-KR" altLang="en-US" sz="4000" dirty="0">
                <a:solidFill>
                  <a:srgbClr val="FFFFFF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정확성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8FABD712-867D-FA4D-713D-D528707C6B66}"/>
              </a:ext>
            </a:extLst>
          </p:cNvPr>
          <p:cNvSpPr txBox="1"/>
          <p:nvPr/>
        </p:nvSpPr>
        <p:spPr>
          <a:xfrm>
            <a:off x="10208098" y="3280833"/>
            <a:ext cx="1267695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07899"/>
              </a:lnSpc>
            </a:pPr>
            <a:r>
              <a:rPr lang="ko-KR" altLang="en-US" sz="4000">
                <a:solidFill>
                  <a:srgbClr val="FFFFFF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편리함</a:t>
            </a:r>
            <a:endParaRPr lang="ko-KR" altLang="en-US" sz="4000" dirty="0">
              <a:solidFill>
                <a:srgbClr val="FFFFFF"/>
              </a:solidFill>
              <a:latin typeface="LG EI Text TTF Bold" panose="020B0800000101010101" pitchFamily="50" charset="-127"/>
              <a:ea typeface="LG EI Text TTF Bold" panose="020B0800000101010101" pitchFamily="50" charset="-127"/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D2A47B6D-CE48-12E0-94CE-CE4543C95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2882" y="6512960"/>
            <a:ext cx="1604994" cy="2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7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오각형 45">
            <a:extLst>
              <a:ext uri="{FF2B5EF4-FFF2-40B4-BE49-F238E27FC236}">
                <a16:creationId xmlns:a16="http://schemas.microsoft.com/office/drawing/2014/main" id="{DE2A9919-982E-CA46-0AE7-FF60B37954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47701" y="1712814"/>
            <a:ext cx="3544186" cy="3375415"/>
          </a:xfrm>
          <a:prstGeom prst="pentagon">
            <a:avLst/>
          </a:prstGeom>
          <a:solidFill>
            <a:srgbClr val="A50034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9CA3A0D-6E13-2134-1139-74A2FD2BBE03}"/>
              </a:ext>
            </a:extLst>
          </p:cNvPr>
          <p:cNvSpPr/>
          <p:nvPr/>
        </p:nvSpPr>
        <p:spPr>
          <a:xfrm>
            <a:off x="2311838" y="5088229"/>
            <a:ext cx="2620150" cy="1196293"/>
          </a:xfrm>
          <a:prstGeom prst="round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547C377-87D1-0124-9CF6-AA1D15F6976E}"/>
              </a:ext>
            </a:extLst>
          </p:cNvPr>
          <p:cNvSpPr/>
          <p:nvPr/>
        </p:nvSpPr>
        <p:spPr>
          <a:xfrm>
            <a:off x="7146497" y="5087257"/>
            <a:ext cx="2620150" cy="1196293"/>
          </a:xfrm>
          <a:prstGeom prst="round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0D4A284-9494-3062-4CEC-782BBB671CE4}"/>
              </a:ext>
            </a:extLst>
          </p:cNvPr>
          <p:cNvSpPr/>
          <p:nvPr/>
        </p:nvSpPr>
        <p:spPr>
          <a:xfrm>
            <a:off x="7872986" y="2259905"/>
            <a:ext cx="2620150" cy="1322382"/>
          </a:xfrm>
          <a:prstGeom prst="round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64D4FAE-1924-CB0A-AE0A-16EFA42D55CF}"/>
              </a:ext>
            </a:extLst>
          </p:cNvPr>
          <p:cNvSpPr/>
          <p:nvPr/>
        </p:nvSpPr>
        <p:spPr>
          <a:xfrm>
            <a:off x="4681506" y="456646"/>
            <a:ext cx="2620150" cy="1191922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8A0DE5C-9F3F-9203-4264-39637B361936}"/>
              </a:ext>
            </a:extLst>
          </p:cNvPr>
          <p:cNvSpPr/>
          <p:nvPr/>
        </p:nvSpPr>
        <p:spPr>
          <a:xfrm>
            <a:off x="1294548" y="2259905"/>
            <a:ext cx="2787481" cy="1502635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1479954" y="2403400"/>
            <a:ext cx="2457950" cy="1499011"/>
            <a:chOff x="8372058" y="1824911"/>
            <a:chExt cx="3155334" cy="1670869"/>
          </a:xfrm>
        </p:grpSpPr>
        <p:cxnSp>
          <p:nvCxnSpPr>
            <p:cNvPr id="5" name="직선 연결선 4"/>
            <p:cNvCxnSpPr>
              <a:cxnSpLocks/>
            </p:cNvCxnSpPr>
            <p:nvPr/>
          </p:nvCxnSpPr>
          <p:spPr>
            <a:xfrm>
              <a:off x="8372058" y="2323369"/>
              <a:ext cx="3128979" cy="0"/>
            </a:xfrm>
            <a:prstGeom prst="line">
              <a:avLst/>
            </a:prstGeom>
            <a:ln w="41275">
              <a:solidFill>
                <a:srgbClr val="A50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72058" y="1824911"/>
              <a:ext cx="31553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A61B38"/>
                  </a:solidFill>
                  <a:latin typeface="LG EI Text TTF Bold" panose="020B0800000101010101" pitchFamily="50" charset="-127"/>
                  <a:ea typeface="LG EI Text TTF Bold" panose="020B0800000101010101" pitchFamily="50" charset="-127"/>
                </a:rPr>
                <a:t>유저 친화적 인터페이스 제공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98409" y="2466592"/>
              <a:ext cx="3102629" cy="10291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주 가입 고객 연령층을 고려한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  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간결하고 직관적인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UI/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UX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디자인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- 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위치기반의 날씨 위젯</a:t>
              </a:r>
            </a:p>
            <a:p>
              <a:pPr algn="ctr"/>
              <a:endPara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pic>
        <p:nvPicPr>
          <p:cNvPr id="4" name="그래픽 3">
            <a:extLst>
              <a:ext uri="{FF2B5EF4-FFF2-40B4-BE49-F238E27FC236}">
                <a16:creationId xmlns:a16="http://schemas.microsoft.com/office/drawing/2014/main" id="{18B5011D-1312-9C66-71C5-85ED8C3CB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2882" y="6512960"/>
            <a:ext cx="1604994" cy="239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D54598-4ED6-DC98-2C32-A369922931E2}"/>
              </a:ext>
            </a:extLst>
          </p:cNvPr>
          <p:cNvSpPr txBox="1"/>
          <p:nvPr/>
        </p:nvSpPr>
        <p:spPr>
          <a:xfrm>
            <a:off x="0" y="0"/>
            <a:ext cx="942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A61B38"/>
                </a:solidFill>
                <a:latin typeface="LG EI Headline TTF Bold" panose="020B0500000101010101" pitchFamily="34" charset="0"/>
                <a:ea typeface="KoPub돋움체 Bold" panose="02020603020101020101" pitchFamily="18" charset="-127"/>
              </a:rPr>
              <a:t>03</a:t>
            </a:r>
            <a:endParaRPr lang="ko-KR" altLang="en-US" sz="2800" dirty="0">
              <a:solidFill>
                <a:srgbClr val="A61B38"/>
              </a:solidFill>
              <a:latin typeface="LG EI Headline TTF Bold" panose="020B0500000101010101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B939BE-6EF7-D213-F9DD-2FC9F499C528}"/>
              </a:ext>
            </a:extLst>
          </p:cNvPr>
          <p:cNvSpPr txBox="1"/>
          <p:nvPr/>
        </p:nvSpPr>
        <p:spPr>
          <a:xfrm>
            <a:off x="734951" y="76944"/>
            <a:ext cx="1512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제공할 서비스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FEDAEED-94CE-C50E-20E0-55DC6233A5A5}"/>
              </a:ext>
            </a:extLst>
          </p:cNvPr>
          <p:cNvGrpSpPr/>
          <p:nvPr/>
        </p:nvGrpSpPr>
        <p:grpSpPr>
          <a:xfrm>
            <a:off x="4762607" y="543242"/>
            <a:ext cx="2457950" cy="987342"/>
            <a:chOff x="8372058" y="1824911"/>
            <a:chExt cx="3155334" cy="1205224"/>
          </a:xfrm>
        </p:grpSpPr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2A14E32-7534-78BE-C4CE-4151ABB8CA9E}"/>
                </a:ext>
              </a:extLst>
            </p:cNvPr>
            <p:cNvCxnSpPr>
              <a:cxnSpLocks/>
            </p:cNvCxnSpPr>
            <p:nvPr/>
          </p:nvCxnSpPr>
          <p:spPr>
            <a:xfrm>
              <a:off x="8372058" y="2323369"/>
              <a:ext cx="3128979" cy="0"/>
            </a:xfrm>
            <a:prstGeom prst="line">
              <a:avLst/>
            </a:prstGeom>
            <a:ln w="41275">
              <a:solidFill>
                <a:srgbClr val="A50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7DC8C2-4E55-ED35-AE88-5A35868292D3}"/>
                </a:ext>
              </a:extLst>
            </p:cNvPr>
            <p:cNvSpPr txBox="1"/>
            <p:nvPr/>
          </p:nvSpPr>
          <p:spPr>
            <a:xfrm>
              <a:off x="8372058" y="1824911"/>
              <a:ext cx="3155334" cy="37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A61B38"/>
                  </a:solidFill>
                  <a:latin typeface="LG EI Text TTF Bold" panose="020B0800000101010101" pitchFamily="50" charset="-127"/>
                  <a:ea typeface="LG EI Text TTF Bold" panose="020B0800000101010101" pitchFamily="50" charset="-127"/>
                </a:rPr>
                <a:t>사용자 경험 기반 추천 시스템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ED3924-3CCB-A9CD-F444-7805B852D1DE}"/>
                </a:ext>
              </a:extLst>
            </p:cNvPr>
            <p:cNvSpPr txBox="1"/>
            <p:nvPr/>
          </p:nvSpPr>
          <p:spPr>
            <a:xfrm>
              <a:off x="8398409" y="2466592"/>
              <a:ext cx="3102629" cy="56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행동 데이터를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통해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유저의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endParaRPr>
            </a:p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   시청 이력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선호 장르 등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분석</a:t>
              </a:r>
              <a:endPara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40FDF93-8465-21D6-17D6-0080691D7744}"/>
              </a:ext>
            </a:extLst>
          </p:cNvPr>
          <p:cNvGrpSpPr/>
          <p:nvPr/>
        </p:nvGrpSpPr>
        <p:grpSpPr>
          <a:xfrm>
            <a:off x="2403203" y="5131080"/>
            <a:ext cx="2457950" cy="1037346"/>
            <a:chOff x="8372058" y="1824911"/>
            <a:chExt cx="3155334" cy="1156276"/>
          </a:xfrm>
        </p:grpSpPr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E1EB47D7-AA7B-0267-3CD8-DC663B2B6C50}"/>
                </a:ext>
              </a:extLst>
            </p:cNvPr>
            <p:cNvCxnSpPr>
              <a:cxnSpLocks/>
            </p:cNvCxnSpPr>
            <p:nvPr/>
          </p:nvCxnSpPr>
          <p:spPr>
            <a:xfrm>
              <a:off x="8372058" y="2323369"/>
              <a:ext cx="3128979" cy="0"/>
            </a:xfrm>
            <a:prstGeom prst="line">
              <a:avLst/>
            </a:prstGeom>
            <a:ln w="41275">
              <a:solidFill>
                <a:srgbClr val="A50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566CDD8-DE23-11D6-99B0-802C785541D0}"/>
                </a:ext>
              </a:extLst>
            </p:cNvPr>
            <p:cNvSpPr txBox="1"/>
            <p:nvPr/>
          </p:nvSpPr>
          <p:spPr>
            <a:xfrm>
              <a:off x="8372058" y="1824911"/>
              <a:ext cx="3155334" cy="37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A61B38"/>
                  </a:solidFill>
                  <a:latin typeface="LG EI Text TTF Bold" panose="020B0800000101010101" pitchFamily="50" charset="-127"/>
                  <a:ea typeface="LG EI Text TTF Bold" panose="020B0800000101010101" pitchFamily="50" charset="-127"/>
                </a:rPr>
                <a:t>인기 콘텐츠 추천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5979F6-ABCD-6379-A334-282457197E7E}"/>
                </a:ext>
              </a:extLst>
            </p:cNvPr>
            <p:cNvSpPr txBox="1"/>
            <p:nvPr/>
          </p:nvSpPr>
          <p:spPr>
            <a:xfrm>
              <a:off x="8398409" y="2466593"/>
              <a:ext cx="3102629" cy="514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주간 조회수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평점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등을 기준으로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  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실시간 인기 콘텐츠 추천</a:t>
              </a:r>
              <a:endPara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54573B3-A9E9-EFC2-9D7D-C982E25950B8}"/>
              </a:ext>
            </a:extLst>
          </p:cNvPr>
          <p:cNvGrpSpPr/>
          <p:nvPr/>
        </p:nvGrpSpPr>
        <p:grpSpPr>
          <a:xfrm>
            <a:off x="7910430" y="2369913"/>
            <a:ext cx="2481078" cy="1056355"/>
            <a:chOff x="8372058" y="1824911"/>
            <a:chExt cx="3185024" cy="1177463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ADD6388-99FA-E158-AF86-44A5DE07B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6825" y="2345502"/>
              <a:ext cx="2938042" cy="9471"/>
            </a:xfrm>
            <a:prstGeom prst="line">
              <a:avLst/>
            </a:prstGeom>
            <a:ln w="41275">
              <a:solidFill>
                <a:srgbClr val="A50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54B6F0-AEE9-CBC1-DA75-5F6575F4545F}"/>
                </a:ext>
              </a:extLst>
            </p:cNvPr>
            <p:cNvSpPr txBox="1"/>
            <p:nvPr/>
          </p:nvSpPr>
          <p:spPr>
            <a:xfrm>
              <a:off x="8372058" y="1824911"/>
              <a:ext cx="3155333" cy="37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A61B38"/>
                  </a:solidFill>
                  <a:latin typeface="LG EI Text TTF Bold" panose="020B0800000101010101" pitchFamily="50" charset="-127"/>
                  <a:ea typeface="LG EI Text TTF Bold" panose="020B0800000101010101" pitchFamily="50" charset="-127"/>
                </a:rPr>
                <a:t>다양한 테마별 추천 시스템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B0C68E-7145-FBE4-A3E2-A370D72F99D1}"/>
                </a:ext>
              </a:extLst>
            </p:cNvPr>
            <p:cNvSpPr txBox="1"/>
            <p:nvPr/>
          </p:nvSpPr>
          <p:spPr>
            <a:xfrm>
              <a:off x="8454453" y="2487782"/>
              <a:ext cx="3102629" cy="514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계절별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장르별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연령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관심사 등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SemiBold" panose="020B0700000101010101" pitchFamily="50" charset="-127"/>
                <a:ea typeface="LG EI Text TTF SemiBold" panose="020B0700000101010101" pitchFamily="50" charset="-127"/>
              </a:endParaRPr>
            </a:p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    맞춤 추천</a:t>
              </a:r>
              <a:endPara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F1987B-E9F8-AA21-9103-4AB4E212E219}"/>
              </a:ext>
            </a:extLst>
          </p:cNvPr>
          <p:cNvGrpSpPr/>
          <p:nvPr/>
        </p:nvGrpSpPr>
        <p:grpSpPr>
          <a:xfrm>
            <a:off x="7196069" y="5155086"/>
            <a:ext cx="2457950" cy="1037347"/>
            <a:chOff x="8372058" y="1824911"/>
            <a:chExt cx="3155334" cy="1156276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887FB176-A650-3912-A61B-4E7BEC4EFB83}"/>
                </a:ext>
              </a:extLst>
            </p:cNvPr>
            <p:cNvCxnSpPr>
              <a:cxnSpLocks/>
            </p:cNvCxnSpPr>
            <p:nvPr/>
          </p:nvCxnSpPr>
          <p:spPr>
            <a:xfrm>
              <a:off x="8372058" y="2323369"/>
              <a:ext cx="3128979" cy="0"/>
            </a:xfrm>
            <a:prstGeom prst="line">
              <a:avLst/>
            </a:prstGeom>
            <a:ln w="41275">
              <a:solidFill>
                <a:srgbClr val="A50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219D103-CF0F-B2D3-A0EE-32C2B2F32423}"/>
                </a:ext>
              </a:extLst>
            </p:cNvPr>
            <p:cNvSpPr txBox="1"/>
            <p:nvPr/>
          </p:nvSpPr>
          <p:spPr>
            <a:xfrm>
              <a:off x="8372058" y="1824911"/>
              <a:ext cx="3155334" cy="37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A61B38"/>
                  </a:solidFill>
                  <a:latin typeface="LG EI Text TTF Bold" panose="020B0800000101010101" pitchFamily="50" charset="-127"/>
                  <a:ea typeface="LG EI Text TTF Bold" panose="020B0800000101010101" pitchFamily="50" charset="-127"/>
                </a:rPr>
                <a:t>검색 서비스 개편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5AEA17-89D7-EE64-EBDF-4187B0C80550}"/>
                </a:ext>
              </a:extLst>
            </p:cNvPr>
            <p:cNvSpPr txBox="1"/>
            <p:nvPr/>
          </p:nvSpPr>
          <p:spPr>
            <a:xfrm>
              <a:off x="8398409" y="2466593"/>
              <a:ext cx="3102629" cy="514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키워드 자동 완성 기능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카테고리 분류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G EI Text TTF SemiBold" panose="020B0700000101010101" pitchFamily="50" charset="-127"/>
                  <a:ea typeface="LG EI Text TTF SemiBold" panose="020B0700000101010101" pitchFamily="50" charset="-127"/>
                </a:rPr>
                <a:t>최근 검색 기록 등</a:t>
              </a:r>
              <a:endPara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46FF827-DBAF-96F3-4F07-3EDD7D9186F1}"/>
              </a:ext>
            </a:extLst>
          </p:cNvPr>
          <p:cNvSpPr txBox="1"/>
          <p:nvPr/>
        </p:nvSpPr>
        <p:spPr>
          <a:xfrm>
            <a:off x="5546058" y="3011223"/>
            <a:ext cx="1035861" cy="830997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제공할 </a:t>
            </a:r>
            <a:endParaRPr lang="en-US" altLang="ko-KR" sz="2400" dirty="0">
              <a:solidFill>
                <a:schemeClr val="bg1"/>
              </a:solidFill>
              <a:latin typeface="LG EI Text TTF Bold" panose="020B0800000101010101" pitchFamily="50" charset="-127"/>
              <a:ea typeface="LG EI Text TTF Bold" panose="020B0800000101010101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서비스</a:t>
            </a:r>
            <a:r>
              <a:rPr lang="en-US" altLang="ko-KR" sz="2400" dirty="0">
                <a:solidFill>
                  <a:schemeClr val="bg1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659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0D4DA83-52C7-6000-9FFF-EE17F311D4A3}"/>
              </a:ext>
            </a:extLst>
          </p:cNvPr>
          <p:cNvSpPr/>
          <p:nvPr/>
        </p:nvSpPr>
        <p:spPr>
          <a:xfrm>
            <a:off x="454371" y="1823213"/>
            <a:ext cx="1661659" cy="843787"/>
          </a:xfrm>
          <a:prstGeom prst="roundRect">
            <a:avLst/>
          </a:prstGeom>
          <a:solidFill>
            <a:srgbClr val="A50034"/>
          </a:solidFill>
          <a:ln w="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DAC8CA-7A15-D296-CC1E-55ADB5DF208D}"/>
              </a:ext>
            </a:extLst>
          </p:cNvPr>
          <p:cNvSpPr txBox="1"/>
          <p:nvPr/>
        </p:nvSpPr>
        <p:spPr>
          <a:xfrm>
            <a:off x="0" y="0"/>
            <a:ext cx="942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A61B38"/>
                </a:solidFill>
                <a:latin typeface="LG EI Headline TTF Bold" panose="020B0500000101010101" pitchFamily="34" charset="0"/>
                <a:ea typeface="KoPub돋움체 Bold" panose="02020603020101020101" pitchFamily="18" charset="-127"/>
              </a:rPr>
              <a:t>04</a:t>
            </a:r>
            <a:endParaRPr lang="ko-KR" altLang="en-US" sz="2800" dirty="0">
              <a:solidFill>
                <a:srgbClr val="A61B38"/>
              </a:solidFill>
              <a:latin typeface="LG EI Headline TTF Bold" panose="020B0500000101010101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0100B6-FC88-265E-BD80-2696B04DF532}"/>
              </a:ext>
            </a:extLst>
          </p:cNvPr>
          <p:cNvSpPr txBox="1"/>
          <p:nvPr/>
        </p:nvSpPr>
        <p:spPr>
          <a:xfrm>
            <a:off x="734951" y="76944"/>
            <a:ext cx="4308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일정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(WBS)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856F673-BD79-45AE-0883-89C089FDE671}"/>
              </a:ext>
            </a:extLst>
          </p:cNvPr>
          <p:cNvSpPr>
            <a:spLocks/>
          </p:cNvSpPr>
          <p:nvPr/>
        </p:nvSpPr>
        <p:spPr>
          <a:xfrm>
            <a:off x="8200047" y="883413"/>
            <a:ext cx="1661659" cy="641537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D0750A-58E2-7507-1094-C44BAB36106F}"/>
              </a:ext>
            </a:extLst>
          </p:cNvPr>
          <p:cNvSpPr txBox="1">
            <a:spLocks/>
          </p:cNvSpPr>
          <p:nvPr/>
        </p:nvSpPr>
        <p:spPr>
          <a:xfrm>
            <a:off x="8616916" y="1023869"/>
            <a:ext cx="827920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LG EI Headline TTF Bold" panose="020B0500000101010101" pitchFamily="34" charset="0"/>
              </a:rPr>
              <a:t>W4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DD531A2-10E0-AD22-4D17-48817400D891}"/>
              </a:ext>
            </a:extLst>
          </p:cNvPr>
          <p:cNvSpPr/>
          <p:nvPr/>
        </p:nvSpPr>
        <p:spPr>
          <a:xfrm>
            <a:off x="6317349" y="883413"/>
            <a:ext cx="1661659" cy="641537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B2040A-0A03-1855-4B14-9B2A7DC0C20D}"/>
              </a:ext>
            </a:extLst>
          </p:cNvPr>
          <p:cNvSpPr txBox="1"/>
          <p:nvPr/>
        </p:nvSpPr>
        <p:spPr>
          <a:xfrm>
            <a:off x="6734218" y="1023869"/>
            <a:ext cx="827920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LG EI Headline TTF Bold" panose="020B0500000101010101" pitchFamily="34" charset="0"/>
              </a:rPr>
              <a:t>W3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C7FDB68-D84B-17FE-F3ED-D87766EAD497}"/>
              </a:ext>
            </a:extLst>
          </p:cNvPr>
          <p:cNvSpPr/>
          <p:nvPr/>
        </p:nvSpPr>
        <p:spPr>
          <a:xfrm>
            <a:off x="4434341" y="887543"/>
            <a:ext cx="1661659" cy="641537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AD81C3-95E6-8953-EC77-935CEDCD2EDC}"/>
              </a:ext>
            </a:extLst>
          </p:cNvPr>
          <p:cNvSpPr txBox="1"/>
          <p:nvPr/>
        </p:nvSpPr>
        <p:spPr>
          <a:xfrm>
            <a:off x="4851210" y="1027999"/>
            <a:ext cx="827920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LG EI Headline TTF Bold" panose="020B0500000101010101" pitchFamily="34" charset="0"/>
              </a:rPr>
              <a:t>W2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79E1C23-4F7B-F3BA-E426-126CE979D8DF}"/>
              </a:ext>
            </a:extLst>
          </p:cNvPr>
          <p:cNvSpPr/>
          <p:nvPr/>
        </p:nvSpPr>
        <p:spPr>
          <a:xfrm>
            <a:off x="2551643" y="887543"/>
            <a:ext cx="1661659" cy="641537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86947A-D8BA-6D70-61AA-184620E3D6F7}"/>
              </a:ext>
            </a:extLst>
          </p:cNvPr>
          <p:cNvSpPr txBox="1"/>
          <p:nvPr/>
        </p:nvSpPr>
        <p:spPr>
          <a:xfrm>
            <a:off x="2968512" y="1027999"/>
            <a:ext cx="827920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LG EI Headline TTF Bold" panose="020B0500000101010101" pitchFamily="34" charset="0"/>
              </a:rPr>
              <a:t>W1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89E870-EC73-C916-AFBD-6257A06F2FE7}"/>
              </a:ext>
            </a:extLst>
          </p:cNvPr>
          <p:cNvSpPr txBox="1"/>
          <p:nvPr/>
        </p:nvSpPr>
        <p:spPr>
          <a:xfrm>
            <a:off x="686642" y="2055406"/>
            <a:ext cx="1202646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LG EI Headline TTF Bold" panose="020B0500000101010101" pitchFamily="34" charset="0"/>
              </a:rPr>
              <a:t>Front-End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1AE1388-42EC-2A7A-69BC-63E89CFF137B}"/>
              </a:ext>
            </a:extLst>
          </p:cNvPr>
          <p:cNvSpPr/>
          <p:nvPr/>
        </p:nvSpPr>
        <p:spPr>
          <a:xfrm>
            <a:off x="454371" y="2899193"/>
            <a:ext cx="1661659" cy="843787"/>
          </a:xfrm>
          <a:prstGeom prst="roundRect">
            <a:avLst/>
          </a:prstGeom>
          <a:solidFill>
            <a:srgbClr val="A50034"/>
          </a:solidFill>
          <a:ln w="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B4BA80-8D7F-C2DF-B8B5-13A0DE755B2E}"/>
              </a:ext>
            </a:extLst>
          </p:cNvPr>
          <p:cNvSpPr txBox="1"/>
          <p:nvPr/>
        </p:nvSpPr>
        <p:spPr>
          <a:xfrm>
            <a:off x="686642" y="3131386"/>
            <a:ext cx="1202646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LG EI Headline TTF Bold" panose="020B0500000101010101" pitchFamily="34" charset="0"/>
              </a:rPr>
              <a:t>DB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9D255F2-7271-24F3-ED15-416C1084A738}"/>
              </a:ext>
            </a:extLst>
          </p:cNvPr>
          <p:cNvSpPr/>
          <p:nvPr/>
        </p:nvSpPr>
        <p:spPr>
          <a:xfrm>
            <a:off x="454371" y="3975173"/>
            <a:ext cx="1661659" cy="843787"/>
          </a:xfrm>
          <a:prstGeom prst="roundRect">
            <a:avLst/>
          </a:prstGeom>
          <a:solidFill>
            <a:srgbClr val="A50034"/>
          </a:solidFill>
          <a:ln w="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90589B-1580-79D6-169C-526C8057E961}"/>
              </a:ext>
            </a:extLst>
          </p:cNvPr>
          <p:cNvSpPr txBox="1"/>
          <p:nvPr/>
        </p:nvSpPr>
        <p:spPr>
          <a:xfrm>
            <a:off x="698785" y="4200357"/>
            <a:ext cx="1202646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LG EI Headline TTF Bold" panose="020B0500000101010101" pitchFamily="34" charset="0"/>
              </a:rPr>
              <a:t>Server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0D203F2-2C60-0989-7902-78BE6207DD62}"/>
              </a:ext>
            </a:extLst>
          </p:cNvPr>
          <p:cNvSpPr/>
          <p:nvPr/>
        </p:nvSpPr>
        <p:spPr>
          <a:xfrm>
            <a:off x="469279" y="5051153"/>
            <a:ext cx="1661659" cy="843787"/>
          </a:xfrm>
          <a:prstGeom prst="roundRect">
            <a:avLst/>
          </a:prstGeom>
          <a:solidFill>
            <a:srgbClr val="A50034"/>
          </a:solidFill>
          <a:ln w="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EEA8D1-37B1-7C75-33CE-542EB541B0C4}"/>
              </a:ext>
            </a:extLst>
          </p:cNvPr>
          <p:cNvSpPr txBox="1"/>
          <p:nvPr/>
        </p:nvSpPr>
        <p:spPr>
          <a:xfrm>
            <a:off x="698785" y="5288380"/>
            <a:ext cx="1202646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LG EI Headline TTF Bold" panose="020B0500000101010101" pitchFamily="34" charset="0"/>
              </a:rPr>
              <a:t>PM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pic>
        <p:nvPicPr>
          <p:cNvPr id="64" name="그래픽 63">
            <a:extLst>
              <a:ext uri="{FF2B5EF4-FFF2-40B4-BE49-F238E27FC236}">
                <a16:creationId xmlns:a16="http://schemas.microsoft.com/office/drawing/2014/main" id="{8D23F3E9-45B1-F8EF-0B0D-ACF3E5CF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2882" y="6512960"/>
            <a:ext cx="1604994" cy="239144"/>
          </a:xfrm>
          <a:prstGeom prst="rect">
            <a:avLst/>
          </a:prstGeom>
        </p:spPr>
      </p:pic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C420687-6E69-7F23-D06F-42EAFC96EAA7}"/>
              </a:ext>
            </a:extLst>
          </p:cNvPr>
          <p:cNvSpPr/>
          <p:nvPr/>
        </p:nvSpPr>
        <p:spPr>
          <a:xfrm>
            <a:off x="2551643" y="1818178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D32284-185B-4A5B-D6D9-8CB6014EC88E}"/>
              </a:ext>
            </a:extLst>
          </p:cNvPr>
          <p:cNvSpPr txBox="1"/>
          <p:nvPr/>
        </p:nvSpPr>
        <p:spPr>
          <a:xfrm>
            <a:off x="2747471" y="2009238"/>
            <a:ext cx="127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예상화면 제작 및 </a:t>
            </a:r>
            <a:r>
              <a:rPr lang="en-US" altLang="ko-KR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UI</a:t>
            </a:r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 설계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95D76C6-21DB-20DD-8D01-70F09C565651}"/>
              </a:ext>
            </a:extLst>
          </p:cNvPr>
          <p:cNvSpPr/>
          <p:nvPr/>
        </p:nvSpPr>
        <p:spPr>
          <a:xfrm>
            <a:off x="4434341" y="1818178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65EBC0-45DC-35E5-AF24-EEEA95D9B9D4}"/>
              </a:ext>
            </a:extLst>
          </p:cNvPr>
          <p:cNvSpPr txBox="1"/>
          <p:nvPr/>
        </p:nvSpPr>
        <p:spPr>
          <a:xfrm>
            <a:off x="4630169" y="2009238"/>
            <a:ext cx="127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서버와의 데이터 연동 협의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356FF9A-3B69-44AF-9351-875EA5126E3B}"/>
              </a:ext>
            </a:extLst>
          </p:cNvPr>
          <p:cNvSpPr/>
          <p:nvPr/>
        </p:nvSpPr>
        <p:spPr>
          <a:xfrm>
            <a:off x="6317349" y="1827572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5239CE-B538-566A-0496-18C7C2B894AF}"/>
              </a:ext>
            </a:extLst>
          </p:cNvPr>
          <p:cNvSpPr txBox="1"/>
          <p:nvPr/>
        </p:nvSpPr>
        <p:spPr>
          <a:xfrm>
            <a:off x="6513177" y="2106606"/>
            <a:ext cx="1270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프레임워크 선택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0E6FAE1-55C9-697E-0B6F-A75E80BDA943}"/>
              </a:ext>
            </a:extLst>
          </p:cNvPr>
          <p:cNvSpPr/>
          <p:nvPr/>
        </p:nvSpPr>
        <p:spPr>
          <a:xfrm>
            <a:off x="8218785" y="1814048"/>
            <a:ext cx="1661659" cy="3013217"/>
          </a:xfrm>
          <a:prstGeom prst="roundRect">
            <a:avLst>
              <a:gd name="adj" fmla="val 7495"/>
            </a:avLst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C82B562-F5E4-3406-25A0-CAB91584690A}"/>
              </a:ext>
            </a:extLst>
          </p:cNvPr>
          <p:cNvSpPr>
            <a:spLocks/>
          </p:cNvSpPr>
          <p:nvPr/>
        </p:nvSpPr>
        <p:spPr>
          <a:xfrm>
            <a:off x="10082745" y="883413"/>
            <a:ext cx="1661659" cy="641537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6E01A0-392E-B60F-70F6-9EBC3468A6D1}"/>
              </a:ext>
            </a:extLst>
          </p:cNvPr>
          <p:cNvSpPr txBox="1">
            <a:spLocks/>
          </p:cNvSpPr>
          <p:nvPr/>
        </p:nvSpPr>
        <p:spPr>
          <a:xfrm>
            <a:off x="10499614" y="1023869"/>
            <a:ext cx="827920" cy="369332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LG EI Headline TTF Bold" panose="020B0500000101010101" pitchFamily="34" charset="0"/>
              </a:rPr>
              <a:t>W5</a:t>
            </a:r>
            <a:endParaRPr lang="ko-KR" altLang="en-US" dirty="0">
              <a:solidFill>
                <a:schemeClr val="bg1"/>
              </a:solidFill>
              <a:latin typeface="LG EI Headline TTF Bold" panose="020B0500000101010101" pitchFamily="34" charset="0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AE246B5-2CC5-C2E5-8905-694C74144573}"/>
              </a:ext>
            </a:extLst>
          </p:cNvPr>
          <p:cNvSpPr/>
          <p:nvPr/>
        </p:nvSpPr>
        <p:spPr>
          <a:xfrm>
            <a:off x="10082745" y="1805355"/>
            <a:ext cx="1661659" cy="4086114"/>
          </a:xfrm>
          <a:prstGeom prst="roundRect">
            <a:avLst>
              <a:gd name="adj" fmla="val 6622"/>
            </a:avLst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B466251B-4289-1FFB-8E62-B4FEE15ECD59}"/>
              </a:ext>
            </a:extLst>
          </p:cNvPr>
          <p:cNvSpPr/>
          <p:nvPr/>
        </p:nvSpPr>
        <p:spPr>
          <a:xfrm>
            <a:off x="2558108" y="2891434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710C9B8-A89B-F449-D480-2BD639A9921C}"/>
              </a:ext>
            </a:extLst>
          </p:cNvPr>
          <p:cNvSpPr txBox="1"/>
          <p:nvPr/>
        </p:nvSpPr>
        <p:spPr>
          <a:xfrm>
            <a:off x="2753936" y="3082494"/>
            <a:ext cx="127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더미데이터로 </a:t>
            </a:r>
            <a:endParaRPr lang="en-US" altLang="ko-KR" sz="1200" dirty="0"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초기 테스트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262B2594-AA17-F280-796F-19BE7EDD9C04}"/>
              </a:ext>
            </a:extLst>
          </p:cNvPr>
          <p:cNvSpPr/>
          <p:nvPr/>
        </p:nvSpPr>
        <p:spPr>
          <a:xfrm>
            <a:off x="4440806" y="2891434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449CF9-9681-EB97-9662-78ABA134E966}"/>
              </a:ext>
            </a:extLst>
          </p:cNvPr>
          <p:cNvSpPr txBox="1"/>
          <p:nvPr/>
        </p:nvSpPr>
        <p:spPr>
          <a:xfrm>
            <a:off x="4609326" y="3099321"/>
            <a:ext cx="134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병렬처리를 통해 데이터 효율성 확보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679DA7A-93FB-881A-CA6E-9027FD3094F5}"/>
              </a:ext>
            </a:extLst>
          </p:cNvPr>
          <p:cNvSpPr/>
          <p:nvPr/>
        </p:nvSpPr>
        <p:spPr>
          <a:xfrm>
            <a:off x="6323814" y="2900828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15822B-34AF-3790-EF5D-2ECECD1924F6}"/>
              </a:ext>
            </a:extLst>
          </p:cNvPr>
          <p:cNvSpPr txBox="1"/>
          <p:nvPr/>
        </p:nvSpPr>
        <p:spPr>
          <a:xfrm>
            <a:off x="6430942" y="3101112"/>
            <a:ext cx="144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서버 파이프라인과의 통합 구축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150054-5CF5-2DB6-C6B4-6865B92D7647}"/>
              </a:ext>
            </a:extLst>
          </p:cNvPr>
          <p:cNvSpPr txBox="1"/>
          <p:nvPr/>
        </p:nvSpPr>
        <p:spPr>
          <a:xfrm>
            <a:off x="8427551" y="3174826"/>
            <a:ext cx="1270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프론트와 맵핑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F501DB1-31F4-DB1E-A233-55501DAF3B9B}"/>
              </a:ext>
            </a:extLst>
          </p:cNvPr>
          <p:cNvSpPr/>
          <p:nvPr/>
        </p:nvSpPr>
        <p:spPr>
          <a:xfrm>
            <a:off x="2558108" y="3974084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7A2C96-CB7D-5C39-BDDD-BD6D4E2B18E6}"/>
              </a:ext>
            </a:extLst>
          </p:cNvPr>
          <p:cNvSpPr txBox="1"/>
          <p:nvPr/>
        </p:nvSpPr>
        <p:spPr>
          <a:xfrm>
            <a:off x="2753936" y="4165144"/>
            <a:ext cx="127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언어 및 </a:t>
            </a:r>
            <a:endParaRPr lang="en-US" altLang="ko-KR" sz="1200" dirty="0"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프레임워크 채택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43F3807A-078E-8578-1939-1FB0356CE68F}"/>
              </a:ext>
            </a:extLst>
          </p:cNvPr>
          <p:cNvSpPr/>
          <p:nvPr/>
        </p:nvSpPr>
        <p:spPr>
          <a:xfrm>
            <a:off x="4440806" y="3974084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20C14DC-B9F2-0491-4E85-B63DF74D2850}"/>
              </a:ext>
            </a:extLst>
          </p:cNvPr>
          <p:cNvSpPr txBox="1"/>
          <p:nvPr/>
        </p:nvSpPr>
        <p:spPr>
          <a:xfrm>
            <a:off x="4636634" y="4165144"/>
            <a:ext cx="127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프론트 요청 </a:t>
            </a:r>
            <a:endParaRPr lang="en-US" altLang="ko-KR" sz="1200" dirty="0"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데이터 협의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9612CBB-A23D-DD8C-4123-2D31DB389D71}"/>
              </a:ext>
            </a:extLst>
          </p:cNvPr>
          <p:cNvSpPr/>
          <p:nvPr/>
        </p:nvSpPr>
        <p:spPr>
          <a:xfrm>
            <a:off x="6323814" y="3983478"/>
            <a:ext cx="1661659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B48E2C-8AD5-D358-E35E-A1924EFFF0EA}"/>
              </a:ext>
            </a:extLst>
          </p:cNvPr>
          <p:cNvSpPr txBox="1"/>
          <p:nvPr/>
        </p:nvSpPr>
        <p:spPr>
          <a:xfrm>
            <a:off x="6519641" y="4154190"/>
            <a:ext cx="127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DB</a:t>
            </a:r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와의 </a:t>
            </a:r>
            <a:endParaRPr lang="en-US" altLang="ko-KR" sz="1200" dirty="0">
              <a:latin typeface="LG EI Text TTF SemiBold" panose="020B0700000101010101" pitchFamily="50" charset="-127"/>
              <a:ea typeface="LG EI Text TTF SemiBold" panose="020B0700000101010101" pitchFamily="50" charset="-127"/>
            </a:endParaRPr>
          </a:p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파이프라인 구축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2718DF7-44DE-9748-4F7F-FA1FB59C9E1A}"/>
              </a:ext>
            </a:extLst>
          </p:cNvPr>
          <p:cNvSpPr/>
          <p:nvPr/>
        </p:nvSpPr>
        <p:spPr>
          <a:xfrm>
            <a:off x="2558108" y="5047682"/>
            <a:ext cx="7328801" cy="8437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C1428D4-BA32-5D5A-E16C-02E22C68A301}"/>
              </a:ext>
            </a:extLst>
          </p:cNvPr>
          <p:cNvSpPr txBox="1"/>
          <p:nvPr/>
        </p:nvSpPr>
        <p:spPr>
          <a:xfrm>
            <a:off x="5041939" y="5331075"/>
            <a:ext cx="215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 EI Text TTF SemiBold" panose="020B0700000101010101" pitchFamily="50" charset="-127"/>
                <a:ea typeface="LG EI Text TTF SemiBold" panose="020B0700000101010101" pitchFamily="50" charset="-127"/>
              </a:rPr>
              <a:t>전체 일정 및 진행 상황 검토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3A4DCF9-30F1-A821-5468-6DB31DDD6F59}"/>
              </a:ext>
            </a:extLst>
          </p:cNvPr>
          <p:cNvSpPr txBox="1"/>
          <p:nvPr/>
        </p:nvSpPr>
        <p:spPr>
          <a:xfrm>
            <a:off x="10278573" y="3604480"/>
            <a:ext cx="127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A50034"/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구현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DB8E-D9BA-B9B0-18A8-D32C8089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43AAB23-2FC9-AF67-530E-6454A0F80563}"/>
              </a:ext>
            </a:extLst>
          </p:cNvPr>
          <p:cNvSpPr/>
          <p:nvPr/>
        </p:nvSpPr>
        <p:spPr>
          <a:xfrm>
            <a:off x="0" y="3387507"/>
            <a:ext cx="8668011" cy="82985"/>
          </a:xfrm>
          <a:prstGeom prst="rect">
            <a:avLst/>
          </a:prstGeom>
          <a:gradFill flip="none" rotWithShape="1">
            <a:gsLst>
              <a:gs pos="85000">
                <a:srgbClr val="7B585F"/>
              </a:gs>
              <a:gs pos="49000">
                <a:srgbClr val="894452"/>
              </a:gs>
              <a:gs pos="0">
                <a:srgbClr val="A61B38"/>
              </a:gs>
              <a:gs pos="100000">
                <a:srgbClr val="6C6C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C69A58C8-BCBC-8E39-F61F-3E35AD1F8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478" y="3220761"/>
            <a:ext cx="2795153" cy="416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8DE847-8BC2-C432-4F84-60630046B307}"/>
              </a:ext>
            </a:extLst>
          </p:cNvPr>
          <p:cNvSpPr txBox="1"/>
          <p:nvPr/>
        </p:nvSpPr>
        <p:spPr>
          <a:xfrm>
            <a:off x="208611" y="2556510"/>
            <a:ext cx="5552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LG EI Text TTF Bold" panose="020B0800000101010101" pitchFamily="50" charset="-127"/>
                <a:ea typeface="LG EI Text TTF Bold" panose="020B0800000101010101" pitchFamily="50" charset="-127"/>
              </a:rPr>
              <a:t>Team 3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LG EI Text TTF Bold" panose="020B0800000101010101" pitchFamily="50" charset="-127"/>
              <a:ea typeface="LG EI Text TTF Bold" panose="020B08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09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259</Words>
  <Application>Microsoft Office PowerPoint</Application>
  <PresentationFormat>와이드스크린</PresentationFormat>
  <Paragraphs>88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LG EI Headline TTF Bold</vt:lpstr>
      <vt:lpstr>Gmarket Sans Light</vt:lpstr>
      <vt:lpstr>LG EI Text TTF Bold</vt:lpstr>
      <vt:lpstr>LG EI Text TTF SemiBold</vt:lpstr>
      <vt:lpstr>KoPub돋움체 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보현</dc:creator>
  <cp:lastModifiedBy>최재원</cp:lastModifiedBy>
  <cp:revision>46</cp:revision>
  <dcterms:created xsi:type="dcterms:W3CDTF">2021-06-26T03:47:04Z</dcterms:created>
  <dcterms:modified xsi:type="dcterms:W3CDTF">2024-12-27T19:04:01Z</dcterms:modified>
</cp:coreProperties>
</file>